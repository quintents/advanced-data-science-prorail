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1238"/>
    <a:srgbClr val="E32B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446" y="31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12ADFA-8DF1-B219-8FB1-4C2EAF3082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2216C351-55E3-21C1-D4EC-49C51B33E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7CBB8B-C680-719A-5549-A1F7B72DF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6887-DAB8-4ECA-9819-EA6D1B48BFAB}" type="datetimeFigureOut">
              <a:rPr lang="nl-NL" smtClean="0"/>
              <a:t>9-10-2025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F3DEF6E-4183-BC50-DD23-8F425CC33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0A2ED50-1820-B763-50C5-956B4911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932F3-AF8A-430A-9624-5A6EB5033B2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40576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B350F9-B7CB-7A25-4CD2-5AD670041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56FDEE2-2DC1-E03A-7862-9F76588FB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F229C0A-F59F-1ECC-B4D8-22967C1E4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6887-DAB8-4ECA-9819-EA6D1B48BFAB}" type="datetimeFigureOut">
              <a:rPr lang="nl-NL" smtClean="0"/>
              <a:t>9-10-2025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8E72A9F-B6E5-9AA5-3048-060A3B107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CD308B0-B2F5-EED4-7AA7-9D457627C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932F3-AF8A-430A-9624-5A6EB5033B2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68030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3E4F4A-1509-1B2B-044D-1372FBAD6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0A57E5E-FF86-C509-0671-7A9CC8A76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E79D56D-40A3-F474-9752-142826554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6887-DAB8-4ECA-9819-EA6D1B48BFAB}" type="datetimeFigureOut">
              <a:rPr lang="nl-NL" smtClean="0"/>
              <a:t>9-10-2025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894BB40-B1A7-E690-5E14-85428E368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8AB63D3-461C-4696-682E-00CD645A0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932F3-AF8A-430A-9624-5A6EB5033B2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99673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604DD0-B761-1DB2-57D9-09C8233BF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19D08FD-6C3F-A549-D906-B8D290D3AB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3989BF5-2248-CAC1-933E-17F6DF5273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F13C258A-2DAE-9F25-8318-C7086BF68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6887-DAB8-4ECA-9819-EA6D1B48BFAB}" type="datetimeFigureOut">
              <a:rPr lang="nl-NL" smtClean="0"/>
              <a:t>9-10-2025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A714152-A933-2866-62E5-E6AFA8C7D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EABD436-A507-9803-07D1-8A54EFE35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932F3-AF8A-430A-9624-5A6EB5033B2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50834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025C88-9586-861E-A47C-F176A5E22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558C883-3858-C169-24CF-B51A4F44A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E4A6626-C7D8-9755-E555-C3D4AAEA84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504CA1C-891F-3D40-55FC-E218259500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942B05F-B514-0ACC-29BE-37F4ECB2F7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E7476988-F5C6-CA7F-D985-016739C46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6887-DAB8-4ECA-9819-EA6D1B48BFAB}" type="datetimeFigureOut">
              <a:rPr lang="nl-NL" smtClean="0"/>
              <a:t>9-10-2025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60E58392-105F-211A-DF28-0487947AD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3CE5A16F-FFC3-4BCA-A596-432747673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932F3-AF8A-430A-9624-5A6EB5033B2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7214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F11150-1922-9987-D36C-7DBB39DBB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8B59FA27-71DE-740E-C893-6D052AB44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6887-DAB8-4ECA-9819-EA6D1B48BFAB}" type="datetimeFigureOut">
              <a:rPr lang="nl-NL" smtClean="0"/>
              <a:t>9-10-2025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2E95A3F2-517F-4BEC-9F87-C7658B891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1DD6C27-D04F-63A9-A4B6-9F5FE839D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932F3-AF8A-430A-9624-5A6EB5033B2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1960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7E755F85-6161-E888-B29C-139CDEF1A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6887-DAB8-4ECA-9819-EA6D1B48BFAB}" type="datetimeFigureOut">
              <a:rPr lang="nl-NL" smtClean="0"/>
              <a:t>9-10-2025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64FE71B-5569-0224-0779-730C8D41C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1FADAF5-7C98-4B93-AEED-C63E26DEF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932F3-AF8A-430A-9624-5A6EB5033B2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67539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405660-314A-FF34-FE60-C50B9FE18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D367D77-13BA-A66C-BE22-74CCD3C61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F17F2F7-CAA5-61A1-E0FC-424FA9CBCA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9C1B2E2-AD60-FBF4-486C-5123F4921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6887-DAB8-4ECA-9819-EA6D1B48BFAB}" type="datetimeFigureOut">
              <a:rPr lang="nl-NL" smtClean="0"/>
              <a:t>9-10-2025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ED5692C-456F-5708-EF00-2EDE1FA9A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E707F58-7A5E-913F-EA1D-DC2CA470C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932F3-AF8A-430A-9624-5A6EB5033B2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49422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CDCE09-674C-7696-5A61-60B1F537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559FF82C-46F4-D0FF-76F3-1F7F974596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B81AE04-2B11-9573-DF95-0B6B4EBE51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7F130D2-1099-D5ED-65DD-C394A544D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6887-DAB8-4ECA-9819-EA6D1B48BFAB}" type="datetimeFigureOut">
              <a:rPr lang="nl-NL" smtClean="0"/>
              <a:t>9-10-2025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83E25EF-F608-05FB-C386-710A00084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65BBFC8-374D-6959-D127-1A08FBF71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932F3-AF8A-430A-9624-5A6EB5033B2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5456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DB9692-CA01-409F-0097-2A9B9CE5A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1C8E45B5-C863-F77D-7E9A-ABFB19E154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BB59BF3-5781-2E36-7102-15D685F52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6887-DAB8-4ECA-9819-EA6D1B48BFAB}" type="datetimeFigureOut">
              <a:rPr lang="nl-NL" smtClean="0"/>
              <a:t>9-10-2025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EF3F76F-7D94-C8B1-76E3-A936F95F8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948F279-F7FF-3B12-52D3-B30DF68C3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932F3-AF8A-430A-9624-5A6EB5033B2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15169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3A88BE60-9852-EF40-101B-89E6DFD8D7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B01E4BA5-AC43-A093-41C6-E22EF933AB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F96CC7A-64AE-C8B0-D909-E62681428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6887-DAB8-4ECA-9819-EA6D1B48BFAB}" type="datetimeFigureOut">
              <a:rPr lang="nl-NL" smtClean="0"/>
              <a:t>9-10-2025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F3D912D-8045-F8F2-4F95-15AE459C7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4D3E35B-F3F5-4727-7737-9143A4F26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932F3-AF8A-430A-9624-5A6EB5033B2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12199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7A60755C-2A20-FB71-AB46-2A3AF055E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F1A9AD6-0B25-0FAF-9AB2-764C5E588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2051C9E-BB7A-198F-633D-F52A9E23ED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DE6887-DAB8-4ECA-9819-EA6D1B48BFAB}" type="datetimeFigureOut">
              <a:rPr lang="nl-NL" smtClean="0"/>
              <a:t>9-10-2025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D0262D8-57F3-9D10-EB3A-85AC0D99EE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2ED4D51-6BD0-CC6A-3D1B-29252563F4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6932F3-AF8A-430A-9624-5A6EB5033B2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85522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Afbeelding 8" descr="Afbeelding met vrachtcontainer, hemel, buitenshuis, spoor&#10;&#10;Door AI gegenereerde inhoud is mogelijk onjuist.">
            <a:extLst>
              <a:ext uri="{FF2B5EF4-FFF2-40B4-BE49-F238E27FC236}">
                <a16:creationId xmlns:a16="http://schemas.microsoft.com/office/drawing/2014/main" id="{74A770B3-9BFE-FD63-AA0D-4757F0E6985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14" r="-1" b="10667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F8824FC-E5ED-EE2A-6940-9E0C9F1FDA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nl-NL" sz="6600">
                <a:solidFill>
                  <a:schemeClr val="bg1"/>
                </a:solidFill>
              </a:rPr>
              <a:t>Train Path Request Fulfilment Prediction </a:t>
            </a:r>
            <a:r>
              <a:rPr lang="nl-NL" sz="4400">
                <a:solidFill>
                  <a:schemeClr val="bg1"/>
                </a:solidFill>
              </a:rPr>
              <a:t>midterm meeting</a:t>
            </a:r>
            <a:endParaRPr lang="nl-NL" sz="6600" dirty="0">
              <a:solidFill>
                <a:schemeClr val="bg1"/>
              </a:solidFill>
            </a:endParaRP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B31CA41C-5F0A-7E06-40CC-569D41B5E4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1"/>
            <a:ext cx="9144000" cy="1882391"/>
          </a:xfrm>
        </p:spPr>
        <p:txBody>
          <a:bodyPr>
            <a:normAutofit/>
          </a:bodyPr>
          <a:lstStyle/>
          <a:p>
            <a:r>
              <a:rPr lang="nl-NL" sz="1400">
                <a:solidFill>
                  <a:schemeClr val="bg1"/>
                </a:solidFill>
              </a:rPr>
              <a:t>Advanced Data Science for TTE (CIEM6302)</a:t>
            </a:r>
            <a:endParaRPr lang="nl-NL" sz="1400" b="0">
              <a:solidFill>
                <a:schemeClr val="bg1"/>
              </a:solidFill>
              <a:effectLst/>
            </a:endParaRPr>
          </a:p>
          <a:p>
            <a:r>
              <a:rPr lang="nl-NL" sz="1400">
                <a:solidFill>
                  <a:schemeClr val="bg1"/>
                </a:solidFill>
              </a:rPr>
              <a:t>Quinten Schimmel - 5266408</a:t>
            </a:r>
            <a:endParaRPr lang="nl-NL" sz="1400" b="0">
              <a:solidFill>
                <a:schemeClr val="bg1"/>
              </a:solidFill>
              <a:effectLst/>
            </a:endParaRPr>
          </a:p>
          <a:p>
            <a:r>
              <a:rPr lang="nl-NL" sz="1400">
                <a:solidFill>
                  <a:schemeClr val="bg1"/>
                </a:solidFill>
              </a:rPr>
              <a:t>Reno Heng Gong - 6215246</a:t>
            </a:r>
            <a:endParaRPr lang="nl-NL" sz="1400" b="0">
              <a:solidFill>
                <a:schemeClr val="bg1"/>
              </a:solidFill>
              <a:effectLst/>
            </a:endParaRPr>
          </a:p>
          <a:p>
            <a:r>
              <a:rPr lang="nl-NL" sz="1400">
                <a:solidFill>
                  <a:schemeClr val="bg1"/>
                </a:solidFill>
              </a:rPr>
              <a:t>Rosanne de Jong - 5374588</a:t>
            </a:r>
            <a:endParaRPr lang="nl-NL" sz="1400" b="0">
              <a:solidFill>
                <a:schemeClr val="bg1"/>
              </a:solidFill>
              <a:effectLst/>
            </a:endParaRPr>
          </a:p>
          <a:p>
            <a:r>
              <a:rPr lang="nl-NL" sz="1400">
                <a:solidFill>
                  <a:schemeClr val="bg1"/>
                </a:solidFill>
              </a:rPr>
              <a:t>Wendy Chi - 5340942</a:t>
            </a:r>
            <a:endParaRPr lang="nl-NL" sz="1400" b="0">
              <a:solidFill>
                <a:schemeClr val="bg1"/>
              </a:solidFill>
              <a:effectLst/>
            </a:endParaRPr>
          </a:p>
          <a:p>
            <a:endParaRPr lang="nl-NL" sz="1300" dirty="0">
              <a:solidFill>
                <a:schemeClr val="bg1"/>
              </a:solidFill>
            </a:endParaRPr>
          </a:p>
        </p:txBody>
      </p:sp>
      <p:sp>
        <p:nvSpPr>
          <p:cNvPr id="16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Afbeelding 9" descr="Afbeelding met Lettertype, Graphics, logo, symbool&#10;&#10;Door AI gegenereerde inhoud is mogelijk onjuist.">
            <a:extLst>
              <a:ext uri="{FF2B5EF4-FFF2-40B4-BE49-F238E27FC236}">
                <a16:creationId xmlns:a16="http://schemas.microsoft.com/office/drawing/2014/main" id="{3B50185F-7054-826F-AB5E-E4DF4EFEF7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7901" y="5364866"/>
            <a:ext cx="2642395" cy="149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29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865701-7348-AB4D-84A9-F8979EF30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>
                <a:solidFill>
                  <a:schemeClr val="bg1"/>
                </a:solidFill>
              </a:rPr>
              <a:t>Problem description</a:t>
            </a:r>
            <a:endParaRPr lang="nl-NL" dirty="0">
              <a:solidFill>
                <a:schemeClr val="bg1"/>
              </a:solidFill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ACC5155-2069-6B9E-4534-91405AD9D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>
                <a:solidFill>
                  <a:schemeClr val="bg1"/>
                </a:solidFill>
              </a:rPr>
              <a:t>Train path </a:t>
            </a:r>
            <a:r>
              <a:rPr lang="nl-NL" dirty="0" err="1">
                <a:solidFill>
                  <a:schemeClr val="bg1"/>
                </a:solidFill>
              </a:rPr>
              <a:t>request</a:t>
            </a:r>
            <a:r>
              <a:rPr lang="nl-NL" dirty="0">
                <a:solidFill>
                  <a:schemeClr val="bg1"/>
                </a:solidFill>
              </a:rPr>
              <a:t> process</a:t>
            </a:r>
          </a:p>
          <a:p>
            <a:r>
              <a:rPr lang="nl-NL" dirty="0" err="1">
                <a:solidFill>
                  <a:schemeClr val="bg1"/>
                </a:solidFill>
              </a:rPr>
              <a:t>Insight</a:t>
            </a:r>
            <a:r>
              <a:rPr lang="nl-NL" dirty="0">
                <a:solidFill>
                  <a:schemeClr val="bg1"/>
                </a:solidFill>
              </a:rPr>
              <a:t> planning process</a:t>
            </a:r>
          </a:p>
          <a:p>
            <a:r>
              <a:rPr lang="nl-NL" dirty="0" err="1">
                <a:solidFill>
                  <a:schemeClr val="bg1"/>
                </a:solidFill>
              </a:rPr>
              <a:t>Positive</a:t>
            </a:r>
            <a:r>
              <a:rPr lang="nl-NL" dirty="0">
                <a:solidFill>
                  <a:schemeClr val="bg1"/>
                </a:solidFill>
              </a:rPr>
              <a:t> response </a:t>
            </a:r>
            <a:r>
              <a:rPr lang="nl-NL" dirty="0" err="1">
                <a:solidFill>
                  <a:schemeClr val="bg1"/>
                </a:solidFill>
              </a:rPr>
              <a:t>expectation</a:t>
            </a:r>
            <a:endParaRPr lang="nl-NL" dirty="0">
              <a:solidFill>
                <a:schemeClr val="bg1"/>
              </a:solidFill>
            </a:endParaRPr>
          </a:p>
          <a:p>
            <a:r>
              <a:rPr lang="nl-NL" dirty="0">
                <a:solidFill>
                  <a:schemeClr val="bg1"/>
                </a:solidFill>
              </a:rPr>
              <a:t>Submission with </a:t>
            </a:r>
            <a:r>
              <a:rPr lang="nl-NL" dirty="0" err="1">
                <a:solidFill>
                  <a:schemeClr val="bg1"/>
                </a:solidFill>
              </a:rPr>
              <a:t>probability</a:t>
            </a:r>
            <a:r>
              <a:rPr lang="nl-NL" dirty="0">
                <a:solidFill>
                  <a:schemeClr val="bg1"/>
                </a:solidFill>
              </a:rPr>
              <a:t> of </a:t>
            </a:r>
            <a:r>
              <a:rPr lang="nl-NL" dirty="0" err="1">
                <a:solidFill>
                  <a:schemeClr val="bg1"/>
                </a:solidFill>
              </a:rPr>
              <a:t>fulfillment</a:t>
            </a:r>
            <a:endParaRPr lang="nl-N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076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A1A471-1F85-4BB1-6437-AA494098D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F7D2F8-CF67-1813-E6F5-693FB50CE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solidFill>
                  <a:schemeClr val="bg1"/>
                </a:solidFill>
              </a:rPr>
              <a:t>Planning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B945391-A90E-2127-7C66-4DA94B360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>
                <a:solidFill>
                  <a:schemeClr val="bg1"/>
                </a:solidFill>
              </a:rPr>
              <a:t>Relevant?</a:t>
            </a:r>
          </a:p>
        </p:txBody>
      </p:sp>
    </p:spTree>
    <p:extLst>
      <p:ext uri="{BB962C8B-B14F-4D97-AF65-F5344CB8AC3E}">
        <p14:creationId xmlns:p14="http://schemas.microsoft.com/office/powerpoint/2010/main" val="24086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BE1E7D-C5FB-8FF7-35EA-936DC47D8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vak 6">
            <a:extLst>
              <a:ext uri="{FF2B5EF4-FFF2-40B4-BE49-F238E27FC236}">
                <a16:creationId xmlns:a16="http://schemas.microsoft.com/office/drawing/2014/main" id="{C8D3C81D-FEBD-5BE7-34D0-BBA81A6CF05F}"/>
              </a:ext>
            </a:extLst>
          </p:cNvPr>
          <p:cNvSpPr txBox="1"/>
          <p:nvPr/>
        </p:nvSpPr>
        <p:spPr>
          <a:xfrm>
            <a:off x="339282" y="2736502"/>
            <a:ext cx="1151343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How can a data-driven model be used to predict the likelihood that a train path request by an operator will be granted by </a:t>
            </a:r>
            <a:r>
              <a:rPr lang="en-US" sz="3600" b="1" dirty="0" err="1">
                <a:solidFill>
                  <a:schemeClr val="bg1"/>
                </a:solidFill>
              </a:rPr>
              <a:t>ProRail</a:t>
            </a:r>
            <a:r>
              <a:rPr lang="en-US" sz="3600" b="1" dirty="0">
                <a:solidFill>
                  <a:schemeClr val="bg1"/>
                </a:solidFill>
              </a:rPr>
              <a:t> based on historical data?</a:t>
            </a:r>
            <a:endParaRPr lang="nl-NL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0624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A7E5C-9A02-9304-424D-BADF0FFFA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vak 6">
            <a:extLst>
              <a:ext uri="{FF2B5EF4-FFF2-40B4-BE49-F238E27FC236}">
                <a16:creationId xmlns:a16="http://schemas.microsoft.com/office/drawing/2014/main" id="{A507148D-F042-0034-BDDC-DE95BEF2B12C}"/>
              </a:ext>
            </a:extLst>
          </p:cNvPr>
          <p:cNvSpPr txBox="1"/>
          <p:nvPr/>
        </p:nvSpPr>
        <p:spPr>
          <a:xfrm>
            <a:off x="1195567" y="502588"/>
            <a:ext cx="980086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How can a data-driven model be used to predict the likelihood that a train path request by an operator will be granted by </a:t>
            </a:r>
            <a:r>
              <a:rPr lang="en-US" sz="2800" b="1" dirty="0" err="1">
                <a:solidFill>
                  <a:schemeClr val="bg1"/>
                </a:solidFill>
              </a:rPr>
              <a:t>ProRail</a:t>
            </a:r>
            <a:r>
              <a:rPr lang="en-US" sz="2800" b="1" dirty="0">
                <a:solidFill>
                  <a:schemeClr val="bg1"/>
                </a:solidFill>
              </a:rPr>
              <a:t> based on historical data?</a:t>
            </a:r>
            <a:endParaRPr lang="nl-NL" sz="2800" dirty="0">
              <a:solidFill>
                <a:schemeClr val="bg1"/>
              </a:solidFill>
            </a:endParaRP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F2A08662-A7BD-E331-F5D1-D3C8F0CED2D0}"/>
              </a:ext>
            </a:extLst>
          </p:cNvPr>
          <p:cNvSpPr txBox="1"/>
          <p:nvPr/>
        </p:nvSpPr>
        <p:spPr>
          <a:xfrm>
            <a:off x="1430921" y="2261984"/>
            <a:ext cx="933015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rtl="0" fontAlgn="base">
              <a:buFont typeface="+mj-lt"/>
              <a:buAutoNum type="alphaUcPeriod"/>
            </a:pPr>
            <a:r>
              <a:rPr lang="en-US" sz="26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How does time tolerance (earliest and latest preferred departure) affect the probability?</a:t>
            </a:r>
          </a:p>
          <a:p>
            <a:pPr marL="342900" indent="-342900" rtl="0" fontAlgn="base">
              <a:buFont typeface="+mj-lt"/>
              <a:buAutoNum type="alphaUcPeriod"/>
            </a:pPr>
            <a:r>
              <a:rPr lang="en-US" sz="26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How good is the match between the request of the operator and the response of </a:t>
            </a:r>
            <a:r>
              <a:rPr lang="en-US" sz="2600" b="0" i="0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ProRail</a:t>
            </a:r>
            <a:r>
              <a:rPr lang="en-US" sz="26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?</a:t>
            </a:r>
            <a:endParaRPr lang="en-US" sz="2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342900" indent="-342900" rtl="0" fontAlgn="base">
              <a:buFont typeface="+mj-lt"/>
              <a:buAutoNum type="alphaUcPeriod"/>
            </a:pPr>
            <a:r>
              <a:rPr lang="en-US" sz="26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Do route structure and stabling/service needs influence outcomes?</a:t>
            </a:r>
          </a:p>
          <a:p>
            <a:pPr marL="342900" indent="-342900" rtl="0" fontAlgn="base">
              <a:buFont typeface="+mj-lt"/>
              <a:buAutoNum type="alphaUcPeriod"/>
            </a:pPr>
            <a:r>
              <a:rPr lang="en-US" sz="26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Are operator, planning phase, and request timing (hour/day/week) predictive?</a:t>
            </a:r>
            <a:endParaRPr lang="en-US" sz="2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342900" indent="-342900" rtl="0" fontAlgn="base">
              <a:buFont typeface="+mj-lt"/>
              <a:buAutoNum type="alphaUcPeriod"/>
            </a:pPr>
            <a:r>
              <a:rPr lang="en-US" sz="26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Difference between operation moment (day) and request timing</a:t>
            </a:r>
          </a:p>
        </p:txBody>
      </p:sp>
    </p:spTree>
    <p:extLst>
      <p:ext uri="{BB962C8B-B14F-4D97-AF65-F5344CB8AC3E}">
        <p14:creationId xmlns:p14="http://schemas.microsoft.com/office/powerpoint/2010/main" val="3104513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9EDB53-0455-8BA1-94D3-227A4908B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44C7B2-BEAF-84C6-8EFF-752A688A1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solidFill>
                  <a:schemeClr val="bg1"/>
                </a:solidFill>
              </a:rPr>
              <a:t>Data cleaning 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EA9F57-508E-0B0C-A6BF-A786258FE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9407"/>
            <a:ext cx="10515600" cy="50381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Rows</a:t>
            </a:r>
            <a:endParaRPr lang="en-US" b="0" dirty="0">
              <a:solidFill>
                <a:schemeClr val="bg1"/>
              </a:solidFill>
              <a:effectLst/>
            </a:endParaRPr>
          </a:p>
          <a:p>
            <a:pPr fontAlgn="base"/>
            <a:r>
              <a:rPr lang="en-US" dirty="0">
                <a:solidFill>
                  <a:schemeClr val="bg1"/>
                </a:solidFill>
              </a:rPr>
              <a:t>Use only reactions: AANGEBODEN and GEEN_AANBIEDING_MOGELIJK</a:t>
            </a:r>
          </a:p>
          <a:p>
            <a:pPr fontAlgn="base"/>
            <a:r>
              <a:rPr lang="en-US" dirty="0">
                <a:solidFill>
                  <a:schemeClr val="bg1"/>
                </a:solidFill>
              </a:rPr>
              <a:t>Use only </a:t>
            </a:r>
            <a:r>
              <a:rPr lang="en-US" dirty="0" err="1">
                <a:solidFill>
                  <a:schemeClr val="bg1"/>
                </a:solidFill>
              </a:rPr>
              <a:t>Ad_HOC</a:t>
            </a:r>
            <a:r>
              <a:rPr lang="en-US" dirty="0">
                <a:solidFill>
                  <a:schemeClr val="bg1"/>
                </a:solidFill>
              </a:rPr>
              <a:t> requests</a:t>
            </a:r>
          </a:p>
          <a:p>
            <a:pPr fontAlgn="base"/>
            <a:r>
              <a:rPr lang="en-US" dirty="0">
                <a:solidFill>
                  <a:schemeClr val="bg1"/>
                </a:solidFill>
              </a:rPr>
              <a:t>Use only NEW request</a:t>
            </a:r>
          </a:p>
          <a:p>
            <a:pPr marL="0" indent="0" fontAlgn="base">
              <a:buNone/>
            </a:pPr>
            <a:r>
              <a:rPr lang="en-US" dirty="0">
                <a:solidFill>
                  <a:schemeClr val="bg1"/>
                </a:solidFill>
              </a:rPr>
              <a:t>Columns</a:t>
            </a:r>
            <a:endParaRPr lang="en-US" b="0" dirty="0">
              <a:solidFill>
                <a:schemeClr val="bg1"/>
              </a:solidFill>
              <a:effectLst/>
            </a:endParaRPr>
          </a:p>
          <a:p>
            <a:pPr fontAlgn="base"/>
            <a:r>
              <a:rPr lang="en-US" dirty="0">
                <a:solidFill>
                  <a:schemeClr val="bg1"/>
                </a:solidFill>
              </a:rPr>
              <a:t>Keep required columns based on research questions</a:t>
            </a:r>
          </a:p>
          <a:p>
            <a:pPr fontAlgn="base"/>
            <a:r>
              <a:rPr lang="en-US" dirty="0">
                <a:solidFill>
                  <a:schemeClr val="bg1"/>
                </a:solidFill>
              </a:rPr>
              <a:t>Create additional columns 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Numerical data </a:t>
            </a:r>
            <a:endParaRPr lang="en-US" b="0" dirty="0">
              <a:solidFill>
                <a:schemeClr val="bg1"/>
              </a:solidFill>
              <a:effectLst/>
            </a:endParaRPr>
          </a:p>
          <a:p>
            <a:pPr fontAlgn="base"/>
            <a:r>
              <a:rPr lang="en-US" dirty="0">
                <a:solidFill>
                  <a:schemeClr val="bg1"/>
                </a:solidFill>
              </a:rPr>
              <a:t>How many data points - how many after cleaning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00DC5AA-51FA-E79C-6E7D-B1622D5AD7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7421" y="3104291"/>
            <a:ext cx="3966379" cy="974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5937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08E77D-2B7E-5127-A6D2-37D5C5586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4FAE144F-F1B7-610A-E2E1-2596D452B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53" y="1021445"/>
            <a:ext cx="11229894" cy="481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5016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262FF8-FFC7-F909-46BA-CB9ED9AA6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E3930639-0C8B-2AE2-9D74-DDAA70E14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nl-NL" dirty="0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5" name="Tijdelijke aanduiding voor inhoud 2">
            <a:extLst>
              <a:ext uri="{FF2B5EF4-FFF2-40B4-BE49-F238E27FC236}">
                <a16:creationId xmlns:a16="http://schemas.microsoft.com/office/drawing/2014/main" id="{4F9DF1A3-B593-6A04-79A6-E1DBAF9E5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9407"/>
            <a:ext cx="5111187" cy="5038164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How does time tolerance (earliest and latest preferred departure) affect the probability?</a:t>
            </a:r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238FD3FF-B099-A1F5-3233-91F17E178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034" y="807960"/>
            <a:ext cx="6308203" cy="2681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83FCE86A-D792-8D75-CDB8-B3E9025A7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034" y="3702765"/>
            <a:ext cx="6308202" cy="2681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1012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9B2921-1EF3-FC03-031D-32FB2DC16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88178CE1-FA85-0FEE-8ED7-C1237CB97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nl-NL" dirty="0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5" name="Tijdelijke aanduiding voor inhoud 2">
            <a:extLst>
              <a:ext uri="{FF2B5EF4-FFF2-40B4-BE49-F238E27FC236}">
                <a16:creationId xmlns:a16="http://schemas.microsoft.com/office/drawing/2014/main" id="{0802ECA5-828E-EF62-B0B0-9AB2BEDA8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9407"/>
            <a:ext cx="10331370" cy="5038164"/>
          </a:xfrm>
        </p:spPr>
        <p:txBody>
          <a:bodyPr>
            <a:noAutofit/>
          </a:bodyPr>
          <a:lstStyle/>
          <a:p>
            <a:pPr fontAlgn="base"/>
            <a:r>
              <a:rPr lang="en-US" dirty="0">
                <a:solidFill>
                  <a:schemeClr val="bg1"/>
                </a:solidFill>
              </a:rPr>
              <a:t>How good is the match between the request of the operator and the response of </a:t>
            </a:r>
            <a:r>
              <a:rPr lang="en-US" dirty="0" err="1">
                <a:solidFill>
                  <a:schemeClr val="bg1"/>
                </a:solidFill>
              </a:rPr>
              <a:t>Prorail</a:t>
            </a:r>
            <a:r>
              <a:rPr lang="en-US" dirty="0">
                <a:solidFill>
                  <a:schemeClr val="bg1"/>
                </a:solidFill>
              </a:rPr>
              <a:t>?</a:t>
            </a:r>
          </a:p>
          <a:p>
            <a:pPr fontAlgn="base"/>
            <a:r>
              <a:rPr lang="en-US" dirty="0">
                <a:solidFill>
                  <a:schemeClr val="bg1"/>
                </a:solidFill>
              </a:rPr>
              <a:t>More feature engineering needed</a:t>
            </a:r>
          </a:p>
        </p:txBody>
      </p:sp>
    </p:spTree>
    <p:extLst>
      <p:ext uri="{BB962C8B-B14F-4D97-AF65-F5344CB8AC3E}">
        <p14:creationId xmlns:p14="http://schemas.microsoft.com/office/powerpoint/2010/main" val="2970547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E7A880-565F-E31B-6385-BA88DAEC6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21555A69-2384-CFDD-18AD-091D346C4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nl-NL" dirty="0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5" name="Tijdelijke aanduiding voor inhoud 2">
            <a:extLst>
              <a:ext uri="{FF2B5EF4-FFF2-40B4-BE49-F238E27FC236}">
                <a16:creationId xmlns:a16="http://schemas.microsoft.com/office/drawing/2014/main" id="{B6694472-47E4-08CC-5C6F-8543BC93D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559407"/>
            <a:ext cx="4243086" cy="5038164"/>
          </a:xfrm>
        </p:spPr>
        <p:txBody>
          <a:bodyPr>
            <a:noAutofit/>
          </a:bodyPr>
          <a:lstStyle/>
          <a:p>
            <a:pPr fontAlgn="base"/>
            <a:r>
              <a:rPr lang="nl-NL" dirty="0">
                <a:solidFill>
                  <a:schemeClr val="bg1"/>
                </a:solidFill>
              </a:rPr>
              <a:t>Do route </a:t>
            </a:r>
            <a:r>
              <a:rPr lang="nl-NL" dirty="0" err="1">
                <a:solidFill>
                  <a:schemeClr val="bg1"/>
                </a:solidFill>
              </a:rPr>
              <a:t>structure</a:t>
            </a:r>
            <a:r>
              <a:rPr lang="nl-NL" dirty="0">
                <a:solidFill>
                  <a:schemeClr val="bg1"/>
                </a:solidFill>
              </a:rPr>
              <a:t> and </a:t>
            </a:r>
            <a:r>
              <a:rPr lang="nl-NL" dirty="0" err="1">
                <a:solidFill>
                  <a:schemeClr val="bg1"/>
                </a:solidFill>
              </a:rPr>
              <a:t>stabling</a:t>
            </a:r>
            <a:r>
              <a:rPr lang="nl-NL" dirty="0">
                <a:solidFill>
                  <a:schemeClr val="bg1"/>
                </a:solidFill>
              </a:rPr>
              <a:t>/service </a:t>
            </a:r>
            <a:r>
              <a:rPr lang="nl-NL" dirty="0" err="1">
                <a:solidFill>
                  <a:schemeClr val="bg1"/>
                </a:solidFill>
              </a:rPr>
              <a:t>needs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influence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outcomes</a:t>
            </a:r>
            <a:r>
              <a:rPr lang="nl-NL" dirty="0">
                <a:solidFill>
                  <a:schemeClr val="bg1"/>
                </a:solidFill>
              </a:rPr>
              <a:t>?</a:t>
            </a:r>
          </a:p>
          <a:p>
            <a:pPr fontAlgn="base"/>
            <a:r>
              <a:rPr lang="nl-NL" dirty="0">
                <a:solidFill>
                  <a:schemeClr val="bg1"/>
                </a:solidFill>
              </a:rPr>
              <a:t>Absolute </a:t>
            </a:r>
            <a:r>
              <a:rPr lang="nl-NL" dirty="0" err="1">
                <a:solidFill>
                  <a:schemeClr val="bg1"/>
                </a:solidFill>
              </a:rPr>
              <a:t>counts</a:t>
            </a:r>
            <a:endParaRPr lang="nl-NL" dirty="0">
              <a:solidFill>
                <a:schemeClr val="bg1"/>
              </a:solidFill>
            </a:endParaRPr>
          </a:p>
          <a:p>
            <a:pPr fontAlgn="base"/>
            <a:r>
              <a:rPr lang="nl-NL" dirty="0">
                <a:solidFill>
                  <a:schemeClr val="bg1"/>
                </a:solidFill>
              </a:rPr>
              <a:t>Kijfhoek Noord, Botlek, Railservice center Waalhaven - Waalhaven Zuid</a:t>
            </a:r>
          </a:p>
          <a:p>
            <a:pPr fontAlgn="base"/>
            <a:r>
              <a:rPr lang="nl-NL" dirty="0">
                <a:solidFill>
                  <a:schemeClr val="bg1"/>
                </a:solidFill>
              </a:rPr>
              <a:t>Maasvlakte - Maasvlakte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C231972-2898-BD1D-AD28-22DDDF97B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1204" y="0"/>
            <a:ext cx="6890796" cy="6890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4435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D0DD14-EA13-99B1-E4E6-1D865D031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DC8CBF0D-7B67-B57C-DA51-7D5ACEEC1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nl-NL" dirty="0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5" name="Tijdelijke aanduiding voor inhoud 2">
            <a:extLst>
              <a:ext uri="{FF2B5EF4-FFF2-40B4-BE49-F238E27FC236}">
                <a16:creationId xmlns:a16="http://schemas.microsoft.com/office/drawing/2014/main" id="{7FC93E40-394A-5C79-8B4D-EB68BE3DD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9407"/>
            <a:ext cx="5111187" cy="5038164"/>
          </a:xfrm>
        </p:spPr>
        <p:txBody>
          <a:bodyPr>
            <a:noAutofit/>
          </a:bodyPr>
          <a:lstStyle/>
          <a:p>
            <a:pPr fontAlgn="base"/>
            <a:r>
              <a:rPr lang="en-US" dirty="0">
                <a:solidFill>
                  <a:schemeClr val="bg1"/>
                </a:solidFill>
              </a:rPr>
              <a:t>Do route structure and stabling/service needs influence outcomes?</a:t>
            </a:r>
          </a:p>
          <a:p>
            <a:pPr fontAlgn="base"/>
            <a:r>
              <a:rPr lang="en-US" dirty="0">
                <a:solidFill>
                  <a:schemeClr val="bg1"/>
                </a:solidFill>
              </a:rPr>
              <a:t>Relative counts: Surprising</a:t>
            </a:r>
          </a:p>
          <a:p>
            <a:pPr fontAlgn="base"/>
            <a:r>
              <a:rPr lang="en-US" dirty="0" err="1">
                <a:solidFill>
                  <a:schemeClr val="bg1"/>
                </a:solidFill>
              </a:rPr>
              <a:t>Lutterade</a:t>
            </a:r>
            <a:r>
              <a:rPr lang="en-US" dirty="0">
                <a:solidFill>
                  <a:schemeClr val="bg1"/>
                </a:solidFill>
              </a:rPr>
              <a:t> DSM - </a:t>
            </a:r>
            <a:r>
              <a:rPr lang="en-US" dirty="0" err="1">
                <a:solidFill>
                  <a:schemeClr val="bg1"/>
                </a:solidFill>
              </a:rPr>
              <a:t>Zevenaar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grens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235D850-2195-D81E-C170-ABD286266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0845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535AD2-6CA6-0399-C4E2-94BD1FDC3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C57A44F1-63C3-A8AF-EED9-777F5DE97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nl-NL" dirty="0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5" name="Tijdelijke aanduiding voor inhoud 2">
            <a:extLst>
              <a:ext uri="{FF2B5EF4-FFF2-40B4-BE49-F238E27FC236}">
                <a16:creationId xmlns:a16="http://schemas.microsoft.com/office/drawing/2014/main" id="{4F4C8AB7-2415-0833-EE07-D0859553C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9407"/>
            <a:ext cx="5111187" cy="5038164"/>
          </a:xfrm>
        </p:spPr>
        <p:txBody>
          <a:bodyPr>
            <a:noAutofit/>
          </a:bodyPr>
          <a:lstStyle/>
          <a:p>
            <a:pPr fontAlgn="base"/>
            <a:r>
              <a:rPr lang="en-US" dirty="0">
                <a:solidFill>
                  <a:schemeClr val="bg1"/>
                </a:solidFill>
              </a:rPr>
              <a:t>Are operator, planning phase, and request timing (hour/day/week) predictive?</a:t>
            </a:r>
          </a:p>
          <a:p>
            <a:pPr fontAlgn="base"/>
            <a:r>
              <a:rPr lang="en-US" dirty="0">
                <a:solidFill>
                  <a:schemeClr val="bg1"/>
                </a:solidFill>
              </a:rPr>
              <a:t>Hour: Absolute numbers increase after 6 in the morning and decrease after 16 pm.</a:t>
            </a:r>
          </a:p>
          <a:p>
            <a:pPr fontAlgn="base"/>
            <a:r>
              <a:rPr lang="en-US" dirty="0">
                <a:solidFill>
                  <a:schemeClr val="bg1"/>
                </a:solidFill>
              </a:rPr>
              <a:t>Week: Significant increase from the start of the , few requests during Christmas break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81B963FD-CA7B-BDDB-2112-09BD665B5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9387" y="335876"/>
            <a:ext cx="6242613" cy="310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BDD2E897-D733-1124-C068-F0319FE7A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9387" y="3419225"/>
            <a:ext cx="6242613" cy="3102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4749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2E0175-987C-469F-6DB9-0662EF5D8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D3F4C6CF-9668-11C7-39A3-14F31D5A6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nl-NL" dirty="0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5" name="Tijdelijke aanduiding voor inhoud 2">
            <a:extLst>
              <a:ext uri="{FF2B5EF4-FFF2-40B4-BE49-F238E27FC236}">
                <a16:creationId xmlns:a16="http://schemas.microsoft.com/office/drawing/2014/main" id="{8CB54B77-49EE-9FBF-B241-04DC22F31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9407"/>
            <a:ext cx="5111187" cy="5038164"/>
          </a:xfrm>
        </p:spPr>
        <p:txBody>
          <a:bodyPr>
            <a:noAutofit/>
          </a:bodyPr>
          <a:lstStyle/>
          <a:p>
            <a:pPr fontAlgn="base"/>
            <a:r>
              <a:rPr lang="en-US" dirty="0">
                <a:solidFill>
                  <a:schemeClr val="bg1"/>
                </a:solidFill>
              </a:rPr>
              <a:t>Are operator, planning phase, and request timing (hour/day/week) predictive?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0D92A12A-6084-D4D6-E002-10CAEC8A7F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6174" y="1030147"/>
            <a:ext cx="6405826" cy="4797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3324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7B792-ECD2-0E17-608F-34A7B1EEA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3EB287D9-7202-9704-0ECB-0CFEF2B21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nl-NL" dirty="0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5" name="Tijdelijke aanduiding voor inhoud 2">
            <a:extLst>
              <a:ext uri="{FF2B5EF4-FFF2-40B4-BE49-F238E27FC236}">
                <a16:creationId xmlns:a16="http://schemas.microsoft.com/office/drawing/2014/main" id="{E2DFB140-420F-F3D0-AC04-16E3D5BE0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9407"/>
            <a:ext cx="10967977" cy="5038164"/>
          </a:xfrm>
        </p:spPr>
        <p:txBody>
          <a:bodyPr>
            <a:noAutofit/>
          </a:bodyPr>
          <a:lstStyle/>
          <a:p>
            <a:pPr fontAlgn="base"/>
            <a:r>
              <a:rPr lang="en-US" dirty="0">
                <a:solidFill>
                  <a:schemeClr val="bg1"/>
                </a:solidFill>
              </a:rPr>
              <a:t>Difference between operation moment (hour) and request timing</a:t>
            </a:r>
          </a:p>
        </p:txBody>
      </p:sp>
    </p:spTree>
    <p:extLst>
      <p:ext uri="{BB962C8B-B14F-4D97-AF65-F5344CB8AC3E}">
        <p14:creationId xmlns:p14="http://schemas.microsoft.com/office/powerpoint/2010/main" val="272221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60E864-8B7B-1E0E-6252-B8C0E8359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D0BBD95C-C904-7574-3C92-103728038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nl-NL" dirty="0">
                <a:solidFill>
                  <a:schemeClr val="bg1"/>
                </a:solidFill>
              </a:rPr>
              <a:t>Possible </a:t>
            </a:r>
            <a:r>
              <a:rPr lang="nl-NL" dirty="0" err="1">
                <a:solidFill>
                  <a:schemeClr val="bg1"/>
                </a:solidFill>
              </a:rPr>
              <a:t>solutions</a:t>
            </a:r>
            <a:endParaRPr lang="nl-NL" dirty="0">
              <a:solidFill>
                <a:schemeClr val="bg1"/>
              </a:solidFill>
            </a:endParaRPr>
          </a:p>
        </p:txBody>
      </p:sp>
      <p:sp>
        <p:nvSpPr>
          <p:cNvPr id="5" name="Tijdelijke aanduiding voor inhoud 2">
            <a:extLst>
              <a:ext uri="{FF2B5EF4-FFF2-40B4-BE49-F238E27FC236}">
                <a16:creationId xmlns:a16="http://schemas.microsoft.com/office/drawing/2014/main" id="{0F22AEE3-CC51-2DE6-2106-101CF4072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9407"/>
            <a:ext cx="10967977" cy="5038164"/>
          </a:xfrm>
        </p:spPr>
        <p:txBody>
          <a:bodyPr>
            <a:noAutofit/>
          </a:bodyPr>
          <a:lstStyle/>
          <a:p>
            <a:pPr fontAlgn="base"/>
            <a:r>
              <a:rPr lang="en-US" dirty="0">
                <a:solidFill>
                  <a:schemeClr val="bg1"/>
                </a:solidFill>
              </a:rPr>
              <a:t>Linear regression </a:t>
            </a:r>
          </a:p>
        </p:txBody>
      </p:sp>
    </p:spTree>
    <p:extLst>
      <p:ext uri="{BB962C8B-B14F-4D97-AF65-F5344CB8AC3E}">
        <p14:creationId xmlns:p14="http://schemas.microsoft.com/office/powerpoint/2010/main" val="40913166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C5EB1B-9590-FB2D-02B1-241DC3182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2C658FFD-EDAD-5F14-BF56-482605D3F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nl-NL" dirty="0">
                <a:solidFill>
                  <a:schemeClr val="bg1"/>
                </a:solidFill>
              </a:rPr>
              <a:t>Demo</a:t>
            </a:r>
          </a:p>
        </p:txBody>
      </p:sp>
      <p:sp>
        <p:nvSpPr>
          <p:cNvPr id="5" name="Tijdelijke aanduiding voor inhoud 2">
            <a:extLst>
              <a:ext uri="{FF2B5EF4-FFF2-40B4-BE49-F238E27FC236}">
                <a16:creationId xmlns:a16="http://schemas.microsoft.com/office/drawing/2014/main" id="{6AD13A6A-9629-13FC-22DB-0861BE928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9407"/>
            <a:ext cx="10967977" cy="5038164"/>
          </a:xfrm>
        </p:spPr>
        <p:txBody>
          <a:bodyPr>
            <a:noAutofit/>
          </a:bodyPr>
          <a:lstStyle/>
          <a:p>
            <a:pPr fontAlgn="base"/>
            <a:r>
              <a:rPr lang="en-US" dirty="0">
                <a:solidFill>
                  <a:schemeClr val="bg1"/>
                </a:solidFill>
              </a:rPr>
              <a:t>Prediction example</a:t>
            </a:r>
          </a:p>
        </p:txBody>
      </p:sp>
    </p:spTree>
    <p:extLst>
      <p:ext uri="{BB962C8B-B14F-4D97-AF65-F5344CB8AC3E}">
        <p14:creationId xmlns:p14="http://schemas.microsoft.com/office/powerpoint/2010/main" val="37235981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F65153-E4CC-4372-EFED-48E84BC86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47525606-A604-B2D3-EDCB-4BF000AD0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nl-NL" dirty="0">
                <a:solidFill>
                  <a:schemeClr val="bg1"/>
                </a:solidFill>
              </a:rPr>
              <a:t>Process</a:t>
            </a:r>
          </a:p>
        </p:txBody>
      </p:sp>
      <p:sp>
        <p:nvSpPr>
          <p:cNvPr id="5" name="Tijdelijke aanduiding voor inhoud 2">
            <a:extLst>
              <a:ext uri="{FF2B5EF4-FFF2-40B4-BE49-F238E27FC236}">
                <a16:creationId xmlns:a16="http://schemas.microsoft.com/office/drawing/2014/main" id="{BDC7F03E-7FE5-7155-527B-AB7BCF2F7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9407"/>
            <a:ext cx="10967977" cy="5038164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How did we work?</a:t>
            </a:r>
            <a:endParaRPr lang="en-US" b="0" dirty="0">
              <a:solidFill>
                <a:schemeClr val="bg1"/>
              </a:solidFill>
              <a:effectLst/>
            </a:endParaRPr>
          </a:p>
          <a:p>
            <a:r>
              <a:rPr lang="en-US" dirty="0">
                <a:solidFill>
                  <a:schemeClr val="bg1"/>
                </a:solidFill>
              </a:rPr>
              <a:t>What went wrong?</a:t>
            </a:r>
            <a:endParaRPr lang="en-US" b="0" dirty="0">
              <a:solidFill>
                <a:schemeClr val="bg1"/>
              </a:solidFill>
              <a:effectLst/>
            </a:endParaRPr>
          </a:p>
          <a:p>
            <a:pPr fontAlgn="base"/>
            <a:r>
              <a:rPr lang="en-US" dirty="0">
                <a:solidFill>
                  <a:schemeClr val="bg1"/>
                </a:solidFill>
              </a:rPr>
              <a:t>Wrong dataset</a:t>
            </a:r>
          </a:p>
          <a:p>
            <a:r>
              <a:rPr lang="en-US" dirty="0">
                <a:solidFill>
                  <a:schemeClr val="bg1"/>
                </a:solidFill>
              </a:rPr>
              <a:t>What do we consider for the future?</a:t>
            </a:r>
            <a:endParaRPr lang="en-US" b="0" dirty="0"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590377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D263B6-3E67-8B5A-C3F3-8B585A0A9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D1E79837-BF46-C944-7368-032920CD3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nl-NL" dirty="0">
                <a:solidFill>
                  <a:schemeClr val="bg1"/>
                </a:solidFill>
              </a:rPr>
              <a:t>Next steps</a:t>
            </a:r>
          </a:p>
        </p:txBody>
      </p:sp>
      <p:sp>
        <p:nvSpPr>
          <p:cNvPr id="5" name="Tijdelijke aanduiding voor inhoud 2">
            <a:extLst>
              <a:ext uri="{FF2B5EF4-FFF2-40B4-BE49-F238E27FC236}">
                <a16:creationId xmlns:a16="http://schemas.microsoft.com/office/drawing/2014/main" id="{EB176158-4616-7B74-5E19-96EBEC393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9407"/>
            <a:ext cx="10967977" cy="5038164"/>
          </a:xfrm>
        </p:spPr>
        <p:txBody>
          <a:bodyPr>
            <a:noAutofit/>
          </a:bodyPr>
          <a:lstStyle/>
          <a:p>
            <a:pPr fontAlgn="base"/>
            <a:r>
              <a:rPr lang="en-US" dirty="0">
                <a:solidFill>
                  <a:schemeClr val="bg1"/>
                </a:solidFill>
              </a:rPr>
              <a:t>Focus on rejected requests</a:t>
            </a:r>
          </a:p>
          <a:p>
            <a:pPr fontAlgn="base"/>
            <a:r>
              <a:rPr lang="en-US" dirty="0">
                <a:solidFill>
                  <a:schemeClr val="bg1"/>
                </a:solidFill>
              </a:rPr>
              <a:t>Our questions</a:t>
            </a:r>
          </a:p>
        </p:txBody>
      </p:sp>
    </p:spTree>
    <p:extLst>
      <p:ext uri="{BB962C8B-B14F-4D97-AF65-F5344CB8AC3E}">
        <p14:creationId xmlns:p14="http://schemas.microsoft.com/office/powerpoint/2010/main" val="22806953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86EDF8-4242-1ABE-9C91-58007678D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51788983-0D48-2FED-81DF-BC6ECBCAA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nl-NL" dirty="0">
                <a:solidFill>
                  <a:schemeClr val="bg1"/>
                </a:solidFill>
              </a:rPr>
              <a:t>Appendix</a:t>
            </a:r>
          </a:p>
        </p:txBody>
      </p:sp>
      <p:sp>
        <p:nvSpPr>
          <p:cNvPr id="5" name="Tijdelijke aanduiding voor inhoud 2">
            <a:extLst>
              <a:ext uri="{FF2B5EF4-FFF2-40B4-BE49-F238E27FC236}">
                <a16:creationId xmlns:a16="http://schemas.microsoft.com/office/drawing/2014/main" id="{EC886ED5-9951-573F-6FE1-1A69A2B8B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9407"/>
            <a:ext cx="10967977" cy="5038164"/>
          </a:xfrm>
        </p:spPr>
        <p:txBody>
          <a:bodyPr>
            <a:noAutofit/>
          </a:bodyPr>
          <a:lstStyle/>
          <a:p>
            <a:pPr fontAlgn="base"/>
            <a:r>
              <a:rPr lang="en-US" dirty="0">
                <a:solidFill>
                  <a:schemeClr val="bg1"/>
                </a:solidFill>
              </a:rPr>
              <a:t>Used columns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954E839B-2982-A081-36D6-50AE045FA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2445" y="1559407"/>
            <a:ext cx="5877287" cy="4772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9120431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433</Words>
  <Application>Microsoft Office PowerPoint</Application>
  <PresentationFormat>Breedbeeld</PresentationFormat>
  <Paragraphs>66</Paragraphs>
  <Slides>19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Kantoorthema</vt:lpstr>
      <vt:lpstr>Train Path Request Fulfilment Prediction midterm meeting</vt:lpstr>
      <vt:lpstr>Problem description</vt:lpstr>
      <vt:lpstr>Planning</vt:lpstr>
      <vt:lpstr>PowerPoint-presentatie</vt:lpstr>
      <vt:lpstr>PowerPoint-presentatie</vt:lpstr>
      <vt:lpstr>Data cleaning </vt:lpstr>
      <vt:lpstr>PowerPoint-presentatie</vt:lpstr>
      <vt:lpstr>Data</vt:lpstr>
      <vt:lpstr>Data</vt:lpstr>
      <vt:lpstr>Data</vt:lpstr>
      <vt:lpstr>Data</vt:lpstr>
      <vt:lpstr>Data</vt:lpstr>
      <vt:lpstr>Data</vt:lpstr>
      <vt:lpstr>Data</vt:lpstr>
      <vt:lpstr>Possible solutions</vt:lpstr>
      <vt:lpstr>Demo</vt:lpstr>
      <vt:lpstr>Process</vt:lpstr>
      <vt:lpstr>Next steps</vt:lpstr>
      <vt:lpstr>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Wendy Chi</dc:creator>
  <cp:lastModifiedBy>Wendy Chi</cp:lastModifiedBy>
  <cp:revision>1</cp:revision>
  <dcterms:created xsi:type="dcterms:W3CDTF">2025-10-09T19:53:09Z</dcterms:created>
  <dcterms:modified xsi:type="dcterms:W3CDTF">2025-10-09T22:20:40Z</dcterms:modified>
</cp:coreProperties>
</file>