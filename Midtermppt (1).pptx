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Play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wp2xM4uo+vp9CTn5tSKF90DIgp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Rosanne De jo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Play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0-10T07:58:48.472">
    <p:pos x="528" y="982"/>
    <p:text>Others are adjusted requests and so have missing data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sMe_-lA"/>
      </p:ext>
    </p:extLst>
  </p:cm>
  <p:cm authorId="0" idx="2" dt="2025-10-10T08:31:20.553">
    <p:pos x="528" y="1082"/>
    <p:text>others are incomplete requests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sMe_-lI"/>
      </p:ext>
    </p:extLst>
  </p:cm>
  <p:cm authorId="0" idx="3" dt="2025-10-10T07:58:21.408">
    <p:pos x="528" y="1182"/>
    <p:text>Why?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sMe_-k8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af6cb7844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8af6cb7844_2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af6cb78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8af6cb784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af6cb7844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8af6cb7844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af6cb7844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8af6cb7844_1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af6cb784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8af6cb784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af6cb78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8af6cb784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8af6cb7844_2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8af6cb7844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objec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ekop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van twee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elijking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een tite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g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met bijschrift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beelding met bijschrift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verticale teks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e titel en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fbeelding met vrachtcontainer, hemel, buitenshuis, spoor&#10;&#10;Door AI gegenereerde inhoud is mogelijk onjuist." id="85" name="Google Shape;85;p1"/>
          <p:cNvPicPr preferRelativeResize="0"/>
          <p:nvPr/>
        </p:nvPicPr>
        <p:blipFill rotWithShape="1">
          <a:blip r:embed="rId3">
            <a:alphaModFix amt="50000"/>
          </a:blip>
          <a:srcRect b="10667" l="0" r="-1" t="14314"/>
          <a:stretch/>
        </p:blipFill>
        <p:spPr>
          <a:xfrm>
            <a:off x="20" y="10"/>
            <a:ext cx="1218893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122363"/>
            <a:ext cx="91440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lang="nl-NL" sz="6600">
                <a:solidFill>
                  <a:schemeClr val="lt1"/>
                </a:solidFill>
              </a:rPr>
              <a:t>Train Path Request Fulfilment Prediction </a:t>
            </a:r>
            <a:r>
              <a:rPr lang="nl-NL" sz="4400">
                <a:solidFill>
                  <a:schemeClr val="lt1"/>
                </a:solidFill>
              </a:rPr>
              <a:t>midterm meeting</a:t>
            </a:r>
            <a:endParaRPr sz="6600">
              <a:solidFill>
                <a:schemeClr val="lt1"/>
              </a:solidFill>
            </a:endParaRPr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527048" y="4599431"/>
            <a:ext cx="9144000" cy="1882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nl-NL" sz="1400">
                <a:solidFill>
                  <a:schemeClr val="lt1"/>
                </a:solidFill>
              </a:rPr>
              <a:t>Advanced Data Science for TTE (CIEM6302)</a:t>
            </a:r>
            <a:endParaRPr b="0" sz="1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nl-NL" sz="1400">
                <a:solidFill>
                  <a:schemeClr val="lt1"/>
                </a:solidFill>
              </a:rPr>
              <a:t>Quinten Schimmel - 5266408</a:t>
            </a:r>
            <a:endParaRPr b="0" sz="1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nl-NL" sz="1400">
                <a:solidFill>
                  <a:schemeClr val="lt1"/>
                </a:solidFill>
              </a:rPr>
              <a:t>Reno Heng Gong - 6215246</a:t>
            </a:r>
            <a:endParaRPr b="0" sz="1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nl-NL" sz="1400">
                <a:solidFill>
                  <a:schemeClr val="lt1"/>
                </a:solidFill>
              </a:rPr>
              <a:t>Rosanne de Jong - 5374588</a:t>
            </a:r>
            <a:endParaRPr b="0" sz="1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nl-NL" sz="1400">
                <a:solidFill>
                  <a:schemeClr val="lt1"/>
                </a:solidFill>
              </a:rPr>
              <a:t>Wendy Chi - 5340942</a:t>
            </a:r>
            <a:endParaRPr b="0" sz="1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974206" y="4368623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4901"/>
            </a:srgbClr>
          </a:solidFill>
          <a:ln cap="rnd" cmpd="sng" w="44450">
            <a:solidFill>
              <a:schemeClr val="lt1">
                <a:alpha val="7490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fbeelding met Lettertype, Graphics, logo, symbool&#10;&#10;Door AI gegenereerde inhoud is mogelijk onjuist.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7901" y="5364866"/>
            <a:ext cx="2642395" cy="1493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title="pngwing.c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375" y="4773556"/>
            <a:ext cx="3063224" cy="306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Contents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nl-NL"/>
              <a:t>Problem Description &amp; Research question</a:t>
            </a:r>
            <a:endParaRPr/>
          </a:p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nl-NL"/>
              <a:t>Data cleaning</a:t>
            </a:r>
            <a:endParaRPr/>
          </a:p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nl-NL"/>
              <a:t>Data exploration</a:t>
            </a:r>
            <a:endParaRPr/>
          </a:p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nl-NL"/>
              <a:t>Logistic regression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Problem description</a:t>
            </a:r>
            <a:endParaRPr/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Train path request process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-NL"/>
              <a:t>ProRail plans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-NL"/>
              <a:t>Operator plans and ProRail responds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Insight planning process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Positive response expectation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Submission shows probability of fulfillment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339307" y="2470327"/>
            <a:ext cx="115134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l-NL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can a data-driven model be used to predict the likelihood that a train path request by an operator will be granted by ProRail based on historical data?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8af6cb7844_2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8af6cb7844_2_11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8af6cb7844_2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Sub-questions</a:t>
            </a:r>
            <a:endParaRPr/>
          </a:p>
        </p:txBody>
      </p:sp>
      <p:sp>
        <p:nvSpPr>
          <p:cNvPr id="121" name="Google Shape;121;g38af6cb7844_2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-NL"/>
              <a:t>Time tolerance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-NL"/>
              <a:t>Match between request and response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-NL"/>
              <a:t>Destinations and stabling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-NL"/>
              <a:t>Request time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-NL"/>
              <a:t>Timing request and operation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6" title="4ef2a08f32256ac7388a44c6b719178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Data cleaning </a:t>
            </a:r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838200" y="1559400"/>
            <a:ext cx="11428200" cy="5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nl-NL"/>
              <a:t>Rows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Use only reactions: </a:t>
            </a:r>
            <a:r>
              <a:rPr lang="nl-NL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AANGEBODEN</a:t>
            </a:r>
            <a:r>
              <a:rPr lang="nl-NL"/>
              <a:t> and GEEN_AANBIEDING_MOGELIJK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-NL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Use only Ad_HOC requests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Use only </a:t>
            </a:r>
            <a:r>
              <a:rPr lang="nl-NL"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NEW request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Remove </a:t>
            </a:r>
            <a:r>
              <a:rPr lang="nl-NL"/>
              <a:t>duplicate</a:t>
            </a:r>
            <a:r>
              <a:rPr lang="nl-NL"/>
              <a:t> requests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nl-NL"/>
              <a:t>Original set: 3.200.000 requests 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nl-NL"/>
              <a:t>After removal: 72.000 requests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8af6cb7844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8af6cb7844_0_6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8af6cb7844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Data cleaning </a:t>
            </a:r>
            <a:endParaRPr/>
          </a:p>
        </p:txBody>
      </p:sp>
      <p:sp>
        <p:nvSpPr>
          <p:cNvPr id="137" name="Google Shape;137;g38af6cb7844_0_6"/>
          <p:cNvSpPr txBox="1"/>
          <p:nvPr>
            <p:ph idx="1" type="body"/>
          </p:nvPr>
        </p:nvSpPr>
        <p:spPr>
          <a:xfrm>
            <a:off x="838200" y="1559400"/>
            <a:ext cx="11428200" cy="5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nl-NL"/>
              <a:t>Columns</a:t>
            </a:r>
            <a:endParaRPr b="0"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 Keep required columns based on research questions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 Create additional columns: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nl-NL"/>
              <a:t>Time_Tolerance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nl-NL"/>
              <a:t>Stabling_needed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nl-NL"/>
              <a:t>Number_of_stops_requested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nl-NL"/>
              <a:t>Numerical data 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Required for Machine Learning</a:t>
            </a:r>
            <a:endParaRPr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53" y="1021445"/>
            <a:ext cx="11229894" cy="481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 Data exploration</a:t>
            </a:r>
            <a:endParaRPr/>
          </a:p>
        </p:txBody>
      </p:sp>
      <p:sp>
        <p:nvSpPr>
          <p:cNvPr id="152" name="Google Shape;152;p8"/>
          <p:cNvSpPr txBox="1"/>
          <p:nvPr>
            <p:ph idx="1" type="body"/>
          </p:nvPr>
        </p:nvSpPr>
        <p:spPr>
          <a:xfrm>
            <a:off x="838200" y="1559407"/>
            <a:ext cx="5111187" cy="5038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How does time tolerance (earliest and latest preferred departure) affect the probability?</a:t>
            </a:r>
            <a:endParaRPr/>
          </a:p>
        </p:txBody>
      </p:sp>
      <p:pic>
        <p:nvPicPr>
          <p:cNvPr id="153" name="Google Shape;1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4034" y="2088098"/>
            <a:ext cx="6308203" cy="2681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1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Data exploration</a:t>
            </a:r>
            <a:endParaRPr/>
          </a:p>
        </p:txBody>
      </p:sp>
      <p:sp>
        <p:nvSpPr>
          <p:cNvPr id="161" name="Google Shape;161;p11"/>
          <p:cNvSpPr txBox="1"/>
          <p:nvPr>
            <p:ph idx="1" type="body"/>
          </p:nvPr>
        </p:nvSpPr>
        <p:spPr>
          <a:xfrm>
            <a:off x="838200" y="1559400"/>
            <a:ext cx="4495800" cy="5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Do route structure and stabling/service needs influence outcomes?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Absolute counts Rotterdam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Relative counts: Surprising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Lutterade DSM - Zevenaar grens</a:t>
            </a:r>
            <a:endParaRPr/>
          </a:p>
        </p:txBody>
      </p:sp>
      <p:pic>
        <p:nvPicPr>
          <p:cNvPr id="162" name="Google Shape;16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8af6cb7844_1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8af6cb7844_1_47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8af6cb7844_1_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Data exploration</a:t>
            </a:r>
            <a:endParaRPr/>
          </a:p>
        </p:txBody>
      </p:sp>
      <p:sp>
        <p:nvSpPr>
          <p:cNvPr id="170" name="Google Shape;170;g38af6cb7844_1_47"/>
          <p:cNvSpPr txBox="1"/>
          <p:nvPr>
            <p:ph idx="1" type="body"/>
          </p:nvPr>
        </p:nvSpPr>
        <p:spPr>
          <a:xfrm>
            <a:off x="838200" y="1559400"/>
            <a:ext cx="4495800" cy="5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Do route structure and stabling/service needs influence outcomes?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Operators request stabling for last location rather than first location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No significant difference</a:t>
            </a:r>
            <a:endParaRPr/>
          </a:p>
        </p:txBody>
      </p:sp>
      <p:pic>
        <p:nvPicPr>
          <p:cNvPr id="171" name="Google Shape;171;g38af6cb7844_1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6400" y="86375"/>
            <a:ext cx="6553201" cy="3257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8af6cb7844_1_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0633" y="3110825"/>
            <a:ext cx="6553201" cy="3257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2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Data exploration</a:t>
            </a:r>
            <a:endParaRPr/>
          </a:p>
        </p:txBody>
      </p:sp>
      <p:sp>
        <p:nvSpPr>
          <p:cNvPr id="180" name="Google Shape;180;p12"/>
          <p:cNvSpPr txBox="1"/>
          <p:nvPr>
            <p:ph idx="1" type="body"/>
          </p:nvPr>
        </p:nvSpPr>
        <p:spPr>
          <a:xfrm>
            <a:off x="838200" y="1559407"/>
            <a:ext cx="5111187" cy="5038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Are operator, planning phase, and request timing (hour/day/week) predictive?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Hour: Absolute numbers increase after 6 in the morning and decrease after 16 pm.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9387" y="1877551"/>
            <a:ext cx="6242614" cy="31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8af6cb7844_1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8af6cb7844_1_57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8af6cb7844_1_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Data exploration</a:t>
            </a:r>
            <a:endParaRPr/>
          </a:p>
        </p:txBody>
      </p:sp>
      <p:sp>
        <p:nvSpPr>
          <p:cNvPr id="189" name="Google Shape;189;g38af6cb7844_1_57"/>
          <p:cNvSpPr txBox="1"/>
          <p:nvPr>
            <p:ph idx="1" type="body"/>
          </p:nvPr>
        </p:nvSpPr>
        <p:spPr>
          <a:xfrm>
            <a:off x="838200" y="1559407"/>
            <a:ext cx="5111100" cy="5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Are operator, planning phase, and request timing (hour/day/week) predictive?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Week: Significant increase in april, few requests during Christmas break</a:t>
            </a:r>
            <a:endParaRPr/>
          </a:p>
        </p:txBody>
      </p:sp>
      <p:pic>
        <p:nvPicPr>
          <p:cNvPr id="190" name="Google Shape;190;g38af6cb7844_1_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9387" y="1877550"/>
            <a:ext cx="6242614" cy="310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3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 txBox="1"/>
          <p:nvPr>
            <p:ph idx="1" type="body"/>
          </p:nvPr>
        </p:nvSpPr>
        <p:spPr>
          <a:xfrm>
            <a:off x="838200" y="1559407"/>
            <a:ext cx="5111187" cy="5038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Are operator, planning phase, and request timing (hour/day/week) predictive?</a:t>
            </a:r>
            <a:endParaRPr/>
          </a:p>
        </p:txBody>
      </p:sp>
      <p:pic>
        <p:nvPicPr>
          <p:cNvPr id="198" name="Google Shape;19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6174" y="1030147"/>
            <a:ext cx="6405826" cy="479770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Data exploration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4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 txBox="1"/>
          <p:nvPr>
            <p:ph idx="1" type="body"/>
          </p:nvPr>
        </p:nvSpPr>
        <p:spPr>
          <a:xfrm>
            <a:off x="838200" y="1559407"/>
            <a:ext cx="10967977" cy="5038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Difference between operation moment (hour) and request timing</a:t>
            </a:r>
            <a:endParaRPr/>
          </a:p>
        </p:txBody>
      </p:sp>
      <p:sp>
        <p:nvSpPr>
          <p:cNvPr id="207" name="Google Shape;207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Data exploration</a:t>
            </a:r>
            <a:endParaRPr/>
          </a:p>
        </p:txBody>
      </p:sp>
      <p:pic>
        <p:nvPicPr>
          <p:cNvPr id="208" name="Google Shape;2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4725" y="2206902"/>
            <a:ext cx="8256799" cy="350719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4"/>
          <p:cNvSpPr/>
          <p:nvPr/>
        </p:nvSpPr>
        <p:spPr>
          <a:xfrm>
            <a:off x="9465675" y="2529236"/>
            <a:ext cx="921300" cy="32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38af6cb7844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8af6cb7844_0_20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8af6cb7844_0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Possible solutions</a:t>
            </a:r>
            <a:endParaRPr/>
          </a:p>
        </p:txBody>
      </p:sp>
      <p:sp>
        <p:nvSpPr>
          <p:cNvPr id="217" name="Google Shape;217;g38af6cb7844_0_20"/>
          <p:cNvSpPr txBox="1"/>
          <p:nvPr>
            <p:ph idx="1" type="body"/>
          </p:nvPr>
        </p:nvSpPr>
        <p:spPr>
          <a:xfrm>
            <a:off x="838200" y="1559407"/>
            <a:ext cx="10968000" cy="5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Why machine learning?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-NL"/>
              <a:t>To predict unseen scenarios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-NL"/>
              <a:t>To give more accurate answers rather than an overall probability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Why logistic regression?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-NL"/>
              <a:t>Classification model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-NL"/>
              <a:t>Output is a possibility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6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First outcomes</a:t>
            </a:r>
            <a:endParaRPr/>
          </a:p>
        </p:txBody>
      </p:sp>
      <p:sp>
        <p:nvSpPr>
          <p:cNvPr id="225" name="Google Shape;225;p16"/>
          <p:cNvSpPr txBox="1"/>
          <p:nvPr>
            <p:ph idx="1" type="body"/>
          </p:nvPr>
        </p:nvSpPr>
        <p:spPr>
          <a:xfrm>
            <a:off x="838200" y="1559407"/>
            <a:ext cx="10967977" cy="5038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Prediction example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Total: 72 734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Approved: 71 350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Rejected: 1 384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-NL"/>
              <a:t>Approval rate: 0.98</a:t>
            </a:r>
            <a:endParaRPr/>
          </a:p>
        </p:txBody>
      </p:sp>
      <p:pic>
        <p:nvPicPr>
          <p:cNvPr id="226" name="Google Shape;22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9475" y="214075"/>
            <a:ext cx="6516700" cy="5207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992520" y="2099123"/>
            <a:ext cx="974325" cy="2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Future steps</a:t>
            </a:r>
            <a:endParaRPr/>
          </a:p>
        </p:txBody>
      </p:sp>
      <p:sp>
        <p:nvSpPr>
          <p:cNvPr id="235" name="Google Shape;235;p9"/>
          <p:cNvSpPr txBox="1"/>
          <p:nvPr>
            <p:ph idx="1" type="body"/>
          </p:nvPr>
        </p:nvSpPr>
        <p:spPr>
          <a:xfrm>
            <a:off x="838200" y="1559407"/>
            <a:ext cx="10331370" cy="5038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How good is the match between the request of the operator and the response of Prorail?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Look at more features that might be relevant - weight, speed, length and others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Try other models: Random forests, Deep learning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7012"/>
            <a:ext cx="12192000" cy="95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Process</a:t>
            </a:r>
            <a:endParaRPr/>
          </a:p>
        </p:txBody>
      </p:sp>
      <p:sp>
        <p:nvSpPr>
          <p:cNvPr id="242" name="Google Shape;242;p17"/>
          <p:cNvSpPr txBox="1"/>
          <p:nvPr>
            <p:ph idx="1" type="body"/>
          </p:nvPr>
        </p:nvSpPr>
        <p:spPr>
          <a:xfrm>
            <a:off x="838200" y="1559407"/>
            <a:ext cx="10967977" cy="5038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How did we work?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What went wrong?</a:t>
            </a:r>
            <a:endParaRPr b="0"/>
          </a:p>
          <a:p>
            <a:pPr indent="-2921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Communication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nl-NL"/>
              <a:t>Incomplete </a:t>
            </a:r>
            <a:r>
              <a:rPr lang="nl-NL"/>
              <a:t>dataset</a:t>
            </a:r>
            <a:endParaRPr/>
          </a:p>
        </p:txBody>
      </p:sp>
      <p:pic>
        <p:nvPicPr>
          <p:cNvPr id="243" name="Google Shape;243;p17" title="4ef2a08f32256ac7388a44c6b71917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3950" y="5421343"/>
            <a:ext cx="2458051" cy="10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af6cb7844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Q</a:t>
            </a:r>
            <a:r>
              <a:rPr lang="nl-NL"/>
              <a:t>uestions</a:t>
            </a:r>
            <a:r>
              <a:rPr lang="nl-NL">
                <a:solidFill>
                  <a:schemeClr val="lt1"/>
                </a:solidFill>
              </a:rPr>
              <a:t>:</a:t>
            </a:r>
            <a:endParaRPr/>
          </a:p>
        </p:txBody>
      </p:sp>
      <p:pic>
        <p:nvPicPr>
          <p:cNvPr id="249" name="Google Shape;249;g38af6cb7844_0_12" title="Scherm­afbeelding 2025-10-07 om 12.37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100" y="997813"/>
            <a:ext cx="7836794" cy="486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8af6cb7844_0_12"/>
          <p:cNvSpPr txBox="1"/>
          <p:nvPr/>
        </p:nvSpPr>
        <p:spPr>
          <a:xfrm>
            <a:off x="950125" y="5798250"/>
            <a:ext cx="109857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800">
                <a:solidFill>
                  <a:schemeClr val="dk1"/>
                </a:solidFill>
              </a:rPr>
              <a:t>Why does a larger time tolerance make it less likely that the system will accept the request?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af6cb7844_2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/>
              <a:t>Questions</a:t>
            </a:r>
            <a:endParaRPr/>
          </a:p>
        </p:txBody>
      </p:sp>
      <p:sp>
        <p:nvSpPr>
          <p:cNvPr id="256" name="Google Shape;256;g38af6cb7844_2_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nl-NL"/>
              <a:t>High acceptance rate → how to focus on rejected requests?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-NL"/>
              <a:t>New type in dataset: vigerende orders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nl-NL"/>
              <a:t>Appendix</a:t>
            </a:r>
            <a:endParaRPr/>
          </a:p>
        </p:txBody>
      </p:sp>
      <p:sp>
        <p:nvSpPr>
          <p:cNvPr id="262" name="Google Shape;262;p19"/>
          <p:cNvSpPr txBox="1"/>
          <p:nvPr>
            <p:ph idx="1" type="body"/>
          </p:nvPr>
        </p:nvSpPr>
        <p:spPr>
          <a:xfrm>
            <a:off x="838200" y="1559407"/>
            <a:ext cx="10967977" cy="5038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nl-NL">
                <a:solidFill>
                  <a:schemeClr val="lt1"/>
                </a:solidFill>
              </a:rPr>
              <a:t>Used columns</a:t>
            </a:r>
            <a:endParaRPr/>
          </a:p>
        </p:txBody>
      </p:sp>
      <p:pic>
        <p:nvPicPr>
          <p:cNvPr id="263" name="Google Shape;2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2445" y="1559407"/>
            <a:ext cx="5877287" cy="4772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antoorthe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2025-10-09T19:53:09Z</dcterms:created>
  <dc:creator>Wendy Chi</dc:creator>
</cp:coreProperties>
</file>